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1" r:id="rId2"/>
    <p:sldId id="26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1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DAB4E0-77A1-4DF5-B831-6EFEB5C17FE5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0749E-84F7-4477-B52F-EFA401E300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8053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215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1AE2C7-5E1A-8684-D702-8B044662F5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70B7419-B591-A5B6-86C8-28E7E6E30A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A03B9D-A78B-E2FA-8E8A-82BA5E552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FA39D-2B50-4FD3-B207-51224DA90F5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998314-45BF-BAB3-56D8-C0B6D1338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20CE37-D307-9309-69B2-5C966F247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CF072-47BC-4C2C-A1E6-B4034CC086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2426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5BADFA-005D-8748-F3E8-89D3AD7F1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F8FBCE-31F6-0F04-E585-DC767E787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A52242-AB03-8C53-231A-882F80C83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FA39D-2B50-4FD3-B207-51224DA90F5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2DD161-56E4-9A20-29C5-94B8BDA6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20DD44-3D8D-ABA1-5831-623EB7B01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CF072-47BC-4C2C-A1E6-B4034CC086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787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4372A6-4064-D520-2A76-632AF8731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537E1E-3EFD-E158-31A4-74C3286D4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E67674-2A7A-6C73-8519-3FEA56E14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FA39D-2B50-4FD3-B207-51224DA90F5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270EEB-7F79-E5C3-6F56-1D8785478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46618D-501B-2DF5-F28B-1AE6B528D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CF072-47BC-4C2C-A1E6-B4034CC086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6758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C3DD6F-92C7-2632-EDF7-ABD5AD202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27930E-040C-D563-50AC-233DC000EB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33AEB48-E213-C13C-8548-868BC72E3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43CBA8E-38CD-50E4-91D2-5155E056F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FA39D-2B50-4FD3-B207-51224DA90F5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5A29A8-533A-D0E5-5843-67E2ACD60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F039B3-6658-FDC3-DEC8-3CD5C5892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CF072-47BC-4C2C-A1E6-B4034CC086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0084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900443-10D3-7236-F9D2-B717F4297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76B7B7-BE09-74BE-3688-F7CF1D8C5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E59DDDD-BFC7-CDC3-9439-F9ED9B0E51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9F4138C-A852-9808-FE2D-C8552C25B8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31E3ECF-7151-CA42-3EDC-A52D9BF863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27B355F-7BCD-8AC1-D300-9D7A75DA6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FA39D-2B50-4FD3-B207-51224DA90F5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4A64F7D-EA17-A237-2726-A4A883685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D19501B-1AAE-94B9-043B-4F2286C39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CF072-47BC-4C2C-A1E6-B4034CC086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7609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198322-FE50-62C4-3A6E-3AA8FB1C5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B2E26F9-0A55-1E9F-BA69-673907935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FA39D-2B50-4FD3-B207-51224DA90F5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F3E62DC-7B0B-658A-4E3E-FA3F46932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E28687-F13C-D947-A552-3DBF51966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CF072-47BC-4C2C-A1E6-B4034CC086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E5D065F-B08C-06E3-6672-194293682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FA39D-2B50-4FD3-B207-51224DA90F5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902966-B4B2-5F30-D3CD-5ECF95D3D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BADC2E-0C63-C917-E444-7DDEED310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CF072-47BC-4C2C-A1E6-B4034CC086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9326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B6BD5-B549-C3D8-1AF1-EE1AF848E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2C0E03-335E-11FA-E294-DCFDEB799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1EA3AFD-9676-42A7-7A95-5339C0F14D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BB3B86C-8403-9BBC-54B2-8C8E9E0C8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FA39D-2B50-4FD3-B207-51224DA90F5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6CE36D-1328-1D16-6090-697A309E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DD44A2-BE8B-BAD5-B947-D38740C79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CF072-47BC-4C2C-A1E6-B4034CC086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889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0F62CA-CFC3-1A6B-EE4C-24DC414CA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6F9B390-BF65-B242-DCFA-2F36CAA9E0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827CDA-11E2-806C-9F4E-821A762F2D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57F0B7-9C68-A188-7D65-A4EBB4D17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FA39D-2B50-4FD3-B207-51224DA90F5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DCAA305-7574-FA38-066C-88E406DFC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B40362-813B-51AF-942A-DC6484F63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CF072-47BC-4C2C-A1E6-B4034CC086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6723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E161C6-1FBF-711F-1DAF-F36CE3BB8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C8904A0-6532-FA34-70BD-24333BEB1B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2F751B-A08D-E2A5-B80B-35EB3CA69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FA39D-2B50-4FD3-B207-51224DA90F5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1FF361-5EAA-9B70-E238-099C25F1B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E7B5FE-7E7D-E415-998F-CE7172A56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CF072-47BC-4C2C-A1E6-B4034CC086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8737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DC7FBC4-0E93-E2A9-FECB-7B258DC0B5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26BA4BE-B6A7-FB5C-757F-04E8FD0EC4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F4A661-4363-8906-7C42-6916809D7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FA39D-2B50-4FD3-B207-51224DA90F5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6A7E4E-F0F9-3EB9-6C1F-333D1DD22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3609C6-8B43-FD36-421D-084954BC9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CF072-47BC-4C2C-A1E6-B4034CC086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2985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ODERN_BLUE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7355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1E96FF6-9D7A-D1E8-6112-B3A82AC7E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6774E2-76FD-BDB4-B200-568AF7B0E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74D2A5-A8F2-E7DE-C327-784F8D81A2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3FA39D-2B50-4FD3-B207-51224DA90F5E}" type="datetimeFigureOut">
              <a:rPr lang="ko-KR" altLang="en-US" smtClean="0"/>
              <a:t>2026-06-04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9EFB60-2339-B024-82DB-DAF6D9C756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878A58-88B2-CB65-0338-B14264476E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1CF072-47BC-4C2C-A1E6-B4034CC086B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913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hyperlink" Target="https://drive.google.com/file/d/174gMeP0T03s06jPr__IAF2-xSUwx6qOU/view?usp=sharing" TargetMode="External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136718F6-F5A3-4C50-BE5F-CF68A07CDE88}"/>
              </a:ext>
            </a:extLst>
          </p:cNvPr>
          <p:cNvGrpSpPr/>
          <p:nvPr/>
        </p:nvGrpSpPr>
        <p:grpSpPr>
          <a:xfrm>
            <a:off x="10470687" y="506925"/>
            <a:ext cx="1081361" cy="1080000"/>
            <a:chOff x="10470687" y="506925"/>
            <a:chExt cx="1081361" cy="1080000"/>
          </a:xfrm>
        </p:grpSpPr>
        <p:sp>
          <p:nvSpPr>
            <p:cNvPr id="43" name="Shape 9">
              <a:extLst>
                <a:ext uri="{FF2B5EF4-FFF2-40B4-BE49-F238E27FC236}">
                  <a16:creationId xmlns:a16="http://schemas.microsoft.com/office/drawing/2014/main" id="{AC8E8C0F-33E1-4B9B-BBBF-D7210659B200}"/>
                </a:ext>
              </a:extLst>
            </p:cNvPr>
            <p:cNvSpPr/>
            <p:nvPr/>
          </p:nvSpPr>
          <p:spPr>
            <a:xfrm>
              <a:off x="10470687" y="506925"/>
              <a:ext cx="1080000" cy="1080000"/>
            </a:xfrm>
            <a:prstGeom prst="roundRect">
              <a:avLst>
                <a:gd name="adj" fmla="val 2469"/>
              </a:avLst>
            </a:prstGeom>
            <a:solidFill>
              <a:srgbClr val="FFFFFF"/>
            </a:solidFill>
            <a:ln w="12700">
              <a:solidFill>
                <a:srgbClr val="B9D8FF"/>
              </a:solidFill>
              <a:prstDash val="solid"/>
            </a:ln>
            <a:effectLst>
              <a:outerShdw blurRad="12700" dist="50800" dir="2700000" algn="bl" rotWithShape="0">
                <a:srgbClr val="DCE8F7">
                  <a:alpha val="18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172635B-54DB-4A64-BAE2-537C57AC0085}"/>
                </a:ext>
              </a:extLst>
            </p:cNvPr>
            <p:cNvSpPr txBox="1"/>
            <p:nvPr/>
          </p:nvSpPr>
          <p:spPr>
            <a:xfrm>
              <a:off x="10472048" y="1261223"/>
              <a:ext cx="1080000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500" dirty="0"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  <a:hlinkClick r:id="rId3"/>
                </a:rPr>
                <a:t>시연 영상</a:t>
              </a:r>
              <a:endParaRPr lang="ko-KR" altLang="en-US" sz="15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108" name="Shape 9">
            <a:extLst>
              <a:ext uri="{FF2B5EF4-FFF2-40B4-BE49-F238E27FC236}">
                <a16:creationId xmlns:a16="http://schemas.microsoft.com/office/drawing/2014/main" id="{01283F1E-062E-4DBA-B95F-DB7E020CB998}"/>
              </a:ext>
            </a:extLst>
          </p:cNvPr>
          <p:cNvSpPr/>
          <p:nvPr/>
        </p:nvSpPr>
        <p:spPr>
          <a:xfrm>
            <a:off x="678471" y="1627631"/>
            <a:ext cx="10872216" cy="4767973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B9D8FF"/>
            </a:solidFill>
            <a:prstDash val="solid"/>
          </a:ln>
          <a:effectLst>
            <a:outerShdw blurRad="12700" dist="50800" dir="2700000" algn="bl" rotWithShape="0">
              <a:srgbClr val="DCE8F7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DFF"/>
          </a:solidFill>
          <a:ln w="12700">
            <a:solidFill>
              <a:srgbClr val="006D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66928" y="566928"/>
            <a:ext cx="73152" cy="457200"/>
          </a:xfrm>
          <a:prstGeom prst="rect">
            <a:avLst/>
          </a:prstGeom>
          <a:solidFill>
            <a:srgbClr val="006DFF"/>
          </a:solidFill>
          <a:ln w="12700">
            <a:solidFill>
              <a:srgbClr val="006D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49808" y="539496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006D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PROJECT 01</a:t>
            </a:r>
            <a:endParaRPr lang="en-US" sz="93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9808" y="74980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B3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RetinaFit</a:t>
            </a:r>
            <a:endParaRPr lang="en-US" sz="2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68097" y="1179576"/>
            <a:ext cx="4703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안경점 현장에서 얼굴 분석부터 AR 가상 피팅까지 연결하는 B2B 서비스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DA041C78-26EC-4413-8AAD-3C238FE5E2F3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83972" y="1851617"/>
            <a:ext cx="7200000" cy="4320000"/>
          </a:xfrm>
          <a:prstGeom prst="rect">
            <a:avLst/>
          </a:prstGeom>
        </p:spPr>
      </p:pic>
      <p:sp>
        <p:nvSpPr>
          <p:cNvPr id="57" name="Text 26">
            <a:extLst>
              <a:ext uri="{FF2B5EF4-FFF2-40B4-BE49-F238E27FC236}">
                <a16:creationId xmlns:a16="http://schemas.microsoft.com/office/drawing/2014/main" id="{68705225-0BF0-46B6-9DA8-07C7D9E8A0AF}"/>
              </a:ext>
            </a:extLst>
          </p:cNvPr>
          <p:cNvSpPr/>
          <p:nvPr/>
        </p:nvSpPr>
        <p:spPr>
          <a:xfrm>
            <a:off x="8476389" y="2957625"/>
            <a:ext cx="28656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B3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FE 2</a:t>
            </a:r>
            <a:r>
              <a:rPr lang="ko-KR" altLang="en-US" sz="1300" b="1" dirty="0">
                <a:solidFill>
                  <a:srgbClr val="0B1B3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 </a:t>
            </a:r>
            <a:r>
              <a:rPr lang="en-US" altLang="ko-KR" sz="1300" b="1" dirty="0">
                <a:solidFill>
                  <a:srgbClr val="0B1B3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| BE 1</a:t>
            </a:r>
            <a:r>
              <a:rPr lang="ko-KR" altLang="en-US" sz="1300" b="1" dirty="0">
                <a:solidFill>
                  <a:srgbClr val="0B1B3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 </a:t>
            </a:r>
            <a:r>
              <a:rPr lang="en-US" altLang="ko-KR" sz="1300" b="1" dirty="0">
                <a:solidFill>
                  <a:srgbClr val="0B1B3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| AI 3</a:t>
            </a:r>
            <a:r>
              <a:rPr lang="ko-KR" altLang="en-US" sz="1300" b="1" dirty="0">
                <a:solidFill>
                  <a:srgbClr val="0B1B3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 </a:t>
            </a:r>
            <a:r>
              <a:rPr lang="en-US" altLang="ko-KR" sz="1300" b="1" dirty="0">
                <a:solidFill>
                  <a:srgbClr val="0B1B3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| INF 1</a:t>
            </a:r>
            <a:r>
              <a:rPr lang="ko-KR" altLang="en-US" sz="1300" b="1" dirty="0">
                <a:solidFill>
                  <a:srgbClr val="0B1B3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인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77F5E734-3E49-4FFE-83D0-5F7B8EBD1834}"/>
              </a:ext>
            </a:extLst>
          </p:cNvPr>
          <p:cNvGrpSpPr/>
          <p:nvPr/>
        </p:nvGrpSpPr>
        <p:grpSpPr>
          <a:xfrm>
            <a:off x="8243433" y="1977097"/>
            <a:ext cx="1374671" cy="183154"/>
            <a:chOff x="8243433" y="1977097"/>
            <a:chExt cx="1374671" cy="183154"/>
          </a:xfrm>
        </p:grpSpPr>
        <p:sp>
          <p:nvSpPr>
            <p:cNvPr id="61" name="Text 19">
              <a:extLst>
                <a:ext uri="{FF2B5EF4-FFF2-40B4-BE49-F238E27FC236}">
                  <a16:creationId xmlns:a16="http://schemas.microsoft.com/office/drawing/2014/main" id="{379A422A-359D-427A-9EA2-8E54A9808580}"/>
                </a:ext>
              </a:extLst>
            </p:cNvPr>
            <p:cNvSpPr/>
            <p:nvPr/>
          </p:nvSpPr>
          <p:spPr>
            <a:xfrm>
              <a:off x="8455610" y="1977097"/>
              <a:ext cx="1162494" cy="1831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500" b="1" dirty="0">
                  <a:solidFill>
                    <a:srgbClr val="7C8AA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기여도</a:t>
              </a:r>
              <a:endParaRPr lang="en-US" sz="15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2" name="Shape 5">
              <a:extLst>
                <a:ext uri="{FF2B5EF4-FFF2-40B4-BE49-F238E27FC236}">
                  <a16:creationId xmlns:a16="http://schemas.microsoft.com/office/drawing/2014/main" id="{5E8B18AE-A0E7-481B-AC2E-498349905B51}"/>
                </a:ext>
              </a:extLst>
            </p:cNvPr>
            <p:cNvSpPr>
              <a:spLocks/>
            </p:cNvSpPr>
            <p:nvPr/>
          </p:nvSpPr>
          <p:spPr>
            <a:xfrm>
              <a:off x="8243433" y="1996674"/>
              <a:ext cx="144000" cy="144000"/>
            </a:xfrm>
            <a:prstGeom prst="rect">
              <a:avLst/>
            </a:prstGeom>
            <a:solidFill>
              <a:srgbClr val="006DFF"/>
            </a:solidFill>
            <a:ln w="12700">
              <a:solidFill>
                <a:srgbClr val="006D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D3800D7B-1896-47B9-B779-6F155E8E3C3D}"/>
              </a:ext>
            </a:extLst>
          </p:cNvPr>
          <p:cNvGrpSpPr/>
          <p:nvPr/>
        </p:nvGrpSpPr>
        <p:grpSpPr>
          <a:xfrm>
            <a:off x="8243433" y="2696654"/>
            <a:ext cx="1374671" cy="183154"/>
            <a:chOff x="8243433" y="2746749"/>
            <a:chExt cx="1374671" cy="183154"/>
          </a:xfrm>
        </p:grpSpPr>
        <p:sp>
          <p:nvSpPr>
            <p:cNvPr id="68" name="Text 19">
              <a:extLst>
                <a:ext uri="{FF2B5EF4-FFF2-40B4-BE49-F238E27FC236}">
                  <a16:creationId xmlns:a16="http://schemas.microsoft.com/office/drawing/2014/main" id="{C7FA76A1-30A0-4BF4-A914-4203AEA7459F}"/>
                </a:ext>
              </a:extLst>
            </p:cNvPr>
            <p:cNvSpPr/>
            <p:nvPr/>
          </p:nvSpPr>
          <p:spPr>
            <a:xfrm>
              <a:off x="8455610" y="2746749"/>
              <a:ext cx="1162494" cy="1831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500" b="1" dirty="0">
                  <a:solidFill>
                    <a:srgbClr val="7C8AA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팀 구성</a:t>
              </a:r>
              <a:endParaRPr lang="en-US" sz="15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69" name="Shape 5">
              <a:extLst>
                <a:ext uri="{FF2B5EF4-FFF2-40B4-BE49-F238E27FC236}">
                  <a16:creationId xmlns:a16="http://schemas.microsoft.com/office/drawing/2014/main" id="{9B92F671-33A9-445D-BF21-B543774C1749}"/>
                </a:ext>
              </a:extLst>
            </p:cNvPr>
            <p:cNvSpPr>
              <a:spLocks/>
            </p:cNvSpPr>
            <p:nvPr/>
          </p:nvSpPr>
          <p:spPr>
            <a:xfrm>
              <a:off x="8243433" y="2766326"/>
              <a:ext cx="144000" cy="144000"/>
            </a:xfrm>
            <a:prstGeom prst="rect">
              <a:avLst/>
            </a:prstGeom>
            <a:solidFill>
              <a:srgbClr val="006DFF"/>
            </a:solidFill>
            <a:ln w="12700">
              <a:solidFill>
                <a:srgbClr val="006D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70" name="Text 20">
            <a:extLst>
              <a:ext uri="{FF2B5EF4-FFF2-40B4-BE49-F238E27FC236}">
                <a16:creationId xmlns:a16="http://schemas.microsoft.com/office/drawing/2014/main" id="{4CCBBCDB-F0A3-40EB-AA22-E669102EE27A}"/>
              </a:ext>
            </a:extLst>
          </p:cNvPr>
          <p:cNvSpPr/>
          <p:nvPr/>
        </p:nvSpPr>
        <p:spPr>
          <a:xfrm>
            <a:off x="8455610" y="2239224"/>
            <a:ext cx="16644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★ ★ ★ ★ ☆</a:t>
            </a: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25C813A5-E5C1-410D-8019-A6AD1EA89B1C}"/>
              </a:ext>
            </a:extLst>
          </p:cNvPr>
          <p:cNvGrpSpPr/>
          <p:nvPr/>
        </p:nvGrpSpPr>
        <p:grpSpPr>
          <a:xfrm>
            <a:off x="8243433" y="3416211"/>
            <a:ext cx="1374671" cy="183154"/>
            <a:chOff x="8243433" y="3499701"/>
            <a:chExt cx="1374671" cy="183154"/>
          </a:xfrm>
        </p:grpSpPr>
        <p:sp>
          <p:nvSpPr>
            <p:cNvPr id="71" name="Text 19">
              <a:extLst>
                <a:ext uri="{FF2B5EF4-FFF2-40B4-BE49-F238E27FC236}">
                  <a16:creationId xmlns:a16="http://schemas.microsoft.com/office/drawing/2014/main" id="{CA453EEF-AC93-4DFE-AD64-8A07046B143B}"/>
                </a:ext>
              </a:extLst>
            </p:cNvPr>
            <p:cNvSpPr/>
            <p:nvPr/>
          </p:nvSpPr>
          <p:spPr>
            <a:xfrm>
              <a:off x="8455610" y="3499701"/>
              <a:ext cx="1162494" cy="1831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500" b="1" dirty="0">
                  <a:solidFill>
                    <a:srgbClr val="7C8AA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역할</a:t>
              </a:r>
              <a:endParaRPr lang="en-US" sz="15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72" name="Shape 5">
              <a:extLst>
                <a:ext uri="{FF2B5EF4-FFF2-40B4-BE49-F238E27FC236}">
                  <a16:creationId xmlns:a16="http://schemas.microsoft.com/office/drawing/2014/main" id="{E8E03445-5D63-4EA8-B64C-6C35CE26460F}"/>
                </a:ext>
              </a:extLst>
            </p:cNvPr>
            <p:cNvSpPr>
              <a:spLocks/>
            </p:cNvSpPr>
            <p:nvPr/>
          </p:nvSpPr>
          <p:spPr>
            <a:xfrm>
              <a:off x="8243433" y="3519278"/>
              <a:ext cx="144000" cy="144000"/>
            </a:xfrm>
            <a:prstGeom prst="rect">
              <a:avLst/>
            </a:prstGeom>
            <a:solidFill>
              <a:srgbClr val="006DFF"/>
            </a:solidFill>
            <a:ln w="12700">
              <a:solidFill>
                <a:srgbClr val="006D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73" name="Text 26">
            <a:extLst>
              <a:ext uri="{FF2B5EF4-FFF2-40B4-BE49-F238E27FC236}">
                <a16:creationId xmlns:a16="http://schemas.microsoft.com/office/drawing/2014/main" id="{923FAAF7-3EA5-4428-9A04-97F25D5E3321}"/>
              </a:ext>
            </a:extLst>
          </p:cNvPr>
          <p:cNvSpPr/>
          <p:nvPr/>
        </p:nvSpPr>
        <p:spPr>
          <a:xfrm>
            <a:off x="8461612" y="368271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B3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Front-End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C37DFEDD-B2BE-4AC4-AE69-8711F64A4F4F}"/>
              </a:ext>
            </a:extLst>
          </p:cNvPr>
          <p:cNvGrpSpPr/>
          <p:nvPr/>
        </p:nvGrpSpPr>
        <p:grpSpPr>
          <a:xfrm>
            <a:off x="8243433" y="4135768"/>
            <a:ext cx="1374671" cy="183154"/>
            <a:chOff x="8243433" y="4563860"/>
            <a:chExt cx="1374671" cy="183154"/>
          </a:xfrm>
        </p:grpSpPr>
        <p:sp>
          <p:nvSpPr>
            <p:cNvPr id="74" name="Text 19">
              <a:extLst>
                <a:ext uri="{FF2B5EF4-FFF2-40B4-BE49-F238E27FC236}">
                  <a16:creationId xmlns:a16="http://schemas.microsoft.com/office/drawing/2014/main" id="{15E3B4F9-BEE6-48C8-8FE9-CD2AABB475F2}"/>
                </a:ext>
              </a:extLst>
            </p:cNvPr>
            <p:cNvSpPr/>
            <p:nvPr/>
          </p:nvSpPr>
          <p:spPr>
            <a:xfrm>
              <a:off x="8455610" y="4563860"/>
              <a:ext cx="1162494" cy="1831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500" b="1" dirty="0">
                  <a:solidFill>
                    <a:srgbClr val="7C8AA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기간</a:t>
              </a:r>
              <a:endParaRPr lang="en-US" sz="15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75" name="Shape 5">
              <a:extLst>
                <a:ext uri="{FF2B5EF4-FFF2-40B4-BE49-F238E27FC236}">
                  <a16:creationId xmlns:a16="http://schemas.microsoft.com/office/drawing/2014/main" id="{C0AE1B52-E766-49DA-B3EA-FAA630F416B7}"/>
                </a:ext>
              </a:extLst>
            </p:cNvPr>
            <p:cNvSpPr>
              <a:spLocks/>
            </p:cNvSpPr>
            <p:nvPr/>
          </p:nvSpPr>
          <p:spPr>
            <a:xfrm>
              <a:off x="8243433" y="4583437"/>
              <a:ext cx="144000" cy="144000"/>
            </a:xfrm>
            <a:prstGeom prst="rect">
              <a:avLst/>
            </a:prstGeom>
            <a:solidFill>
              <a:srgbClr val="006DFF"/>
            </a:solidFill>
            <a:ln w="12700">
              <a:solidFill>
                <a:srgbClr val="006D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FC26802F-B2F0-46AF-9EBF-BE2CC701F943}"/>
              </a:ext>
            </a:extLst>
          </p:cNvPr>
          <p:cNvGrpSpPr/>
          <p:nvPr/>
        </p:nvGrpSpPr>
        <p:grpSpPr>
          <a:xfrm>
            <a:off x="8243433" y="4855325"/>
            <a:ext cx="1374671" cy="183154"/>
            <a:chOff x="8243433" y="5302407"/>
            <a:chExt cx="1374671" cy="183154"/>
          </a:xfrm>
        </p:grpSpPr>
        <p:sp>
          <p:nvSpPr>
            <p:cNvPr id="76" name="Text 19">
              <a:extLst>
                <a:ext uri="{FF2B5EF4-FFF2-40B4-BE49-F238E27FC236}">
                  <a16:creationId xmlns:a16="http://schemas.microsoft.com/office/drawing/2014/main" id="{1F1C0D0A-C921-43B9-91EF-C4D7FBBDF360}"/>
                </a:ext>
              </a:extLst>
            </p:cNvPr>
            <p:cNvSpPr/>
            <p:nvPr/>
          </p:nvSpPr>
          <p:spPr>
            <a:xfrm>
              <a:off x="8455610" y="5302407"/>
              <a:ext cx="1162494" cy="1831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500" b="1" dirty="0">
                  <a:solidFill>
                    <a:srgbClr val="7C8AA5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기술 스택</a:t>
              </a:r>
              <a:endParaRPr lang="en-US" sz="15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  <p:sp>
          <p:nvSpPr>
            <p:cNvPr id="77" name="Shape 5">
              <a:extLst>
                <a:ext uri="{FF2B5EF4-FFF2-40B4-BE49-F238E27FC236}">
                  <a16:creationId xmlns:a16="http://schemas.microsoft.com/office/drawing/2014/main" id="{47ECB511-D877-442B-BB51-7304E5C54FAD}"/>
                </a:ext>
              </a:extLst>
            </p:cNvPr>
            <p:cNvSpPr>
              <a:spLocks/>
            </p:cNvSpPr>
            <p:nvPr/>
          </p:nvSpPr>
          <p:spPr>
            <a:xfrm>
              <a:off x="8243433" y="5321984"/>
              <a:ext cx="144000" cy="144000"/>
            </a:xfrm>
            <a:prstGeom prst="rect">
              <a:avLst/>
            </a:prstGeom>
            <a:solidFill>
              <a:srgbClr val="006DFF"/>
            </a:solidFill>
            <a:ln w="12700">
              <a:solidFill>
                <a:srgbClr val="006D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CE1A6ACC-530C-42B1-8107-FED99D1E7BA1}"/>
              </a:ext>
            </a:extLst>
          </p:cNvPr>
          <p:cNvGrpSpPr/>
          <p:nvPr/>
        </p:nvGrpSpPr>
        <p:grpSpPr>
          <a:xfrm>
            <a:off x="8425220" y="5127859"/>
            <a:ext cx="540000" cy="741168"/>
            <a:chOff x="8420388" y="5189798"/>
            <a:chExt cx="540000" cy="741168"/>
          </a:xfrm>
        </p:grpSpPr>
        <p:pic>
          <p:nvPicPr>
            <p:cNvPr id="94" name="그림 93">
              <a:extLst>
                <a:ext uri="{FF2B5EF4-FFF2-40B4-BE49-F238E27FC236}">
                  <a16:creationId xmlns:a16="http://schemas.microsoft.com/office/drawing/2014/main" id="{EEDF8AE7-280C-4472-A9CD-7F06EFA638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20388" y="5189798"/>
              <a:ext cx="540000" cy="540000"/>
            </a:xfrm>
            <a:prstGeom prst="rect">
              <a:avLst/>
            </a:prstGeom>
          </p:spPr>
        </p:pic>
        <p:sp>
          <p:nvSpPr>
            <p:cNvPr id="97" name="Text 20">
              <a:extLst>
                <a:ext uri="{FF2B5EF4-FFF2-40B4-BE49-F238E27FC236}">
                  <a16:creationId xmlns:a16="http://schemas.microsoft.com/office/drawing/2014/main" id="{66C08241-F8B0-49C5-8EFF-A34B93D40A1E}"/>
                </a:ext>
              </a:extLst>
            </p:cNvPr>
            <p:cNvSpPr/>
            <p:nvPr/>
          </p:nvSpPr>
          <p:spPr>
            <a:xfrm>
              <a:off x="8495380" y="5729798"/>
              <a:ext cx="390016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B1B3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Svelte</a:t>
              </a:r>
              <a:endParaRPr 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5BB94C10-4CCC-4148-A09D-1B8A761D5621}"/>
              </a:ext>
            </a:extLst>
          </p:cNvPr>
          <p:cNvGrpSpPr/>
          <p:nvPr/>
        </p:nvGrpSpPr>
        <p:grpSpPr>
          <a:xfrm>
            <a:off x="9069103" y="5127390"/>
            <a:ext cx="540000" cy="740780"/>
            <a:chOff x="9078842" y="5189798"/>
            <a:chExt cx="540000" cy="740780"/>
          </a:xfrm>
        </p:grpSpPr>
        <p:pic>
          <p:nvPicPr>
            <p:cNvPr id="96" name="그림 95">
              <a:extLst>
                <a:ext uri="{FF2B5EF4-FFF2-40B4-BE49-F238E27FC236}">
                  <a16:creationId xmlns:a16="http://schemas.microsoft.com/office/drawing/2014/main" id="{D3C94D03-4B07-4B4D-B9A1-FD8C3ECFD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078842" y="5189798"/>
              <a:ext cx="540000" cy="540000"/>
            </a:xfrm>
            <a:prstGeom prst="rect">
              <a:avLst/>
            </a:prstGeom>
          </p:spPr>
        </p:pic>
        <p:sp>
          <p:nvSpPr>
            <p:cNvPr id="99" name="Text 20">
              <a:extLst>
                <a:ext uri="{FF2B5EF4-FFF2-40B4-BE49-F238E27FC236}">
                  <a16:creationId xmlns:a16="http://schemas.microsoft.com/office/drawing/2014/main" id="{2C9FA7B2-A538-400D-9DF1-F459F817AE30}"/>
                </a:ext>
              </a:extLst>
            </p:cNvPr>
            <p:cNvSpPr/>
            <p:nvPr/>
          </p:nvSpPr>
          <p:spPr>
            <a:xfrm>
              <a:off x="9116328" y="5729410"/>
              <a:ext cx="465028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B1B3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Flutter</a:t>
              </a:r>
              <a:endParaRPr 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6E7AF24E-2A5A-4414-8160-B4D648EFE076}"/>
              </a:ext>
            </a:extLst>
          </p:cNvPr>
          <p:cNvGrpSpPr/>
          <p:nvPr/>
        </p:nvGrpSpPr>
        <p:grpSpPr>
          <a:xfrm>
            <a:off x="9694841" y="5126199"/>
            <a:ext cx="797477" cy="741971"/>
            <a:chOff x="9527790" y="5189798"/>
            <a:chExt cx="797477" cy="741971"/>
          </a:xfrm>
        </p:grpSpPr>
        <p:pic>
          <p:nvPicPr>
            <p:cNvPr id="84" name="그래픽 83">
              <a:extLst>
                <a:ext uri="{FF2B5EF4-FFF2-40B4-BE49-F238E27FC236}">
                  <a16:creationId xmlns:a16="http://schemas.microsoft.com/office/drawing/2014/main" id="{0D880406-EFBE-433D-9236-F5BB9A8AD88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656528" y="5189798"/>
              <a:ext cx="540000" cy="540000"/>
            </a:xfrm>
            <a:prstGeom prst="rect">
              <a:avLst/>
            </a:prstGeom>
          </p:spPr>
        </p:pic>
        <p:sp>
          <p:nvSpPr>
            <p:cNvPr id="100" name="Text 20">
              <a:extLst>
                <a:ext uri="{FF2B5EF4-FFF2-40B4-BE49-F238E27FC236}">
                  <a16:creationId xmlns:a16="http://schemas.microsoft.com/office/drawing/2014/main" id="{21EC248A-AAA7-493A-9FE7-C9B96A7AF6C9}"/>
                </a:ext>
              </a:extLst>
            </p:cNvPr>
            <p:cNvSpPr/>
            <p:nvPr/>
          </p:nvSpPr>
          <p:spPr>
            <a:xfrm>
              <a:off x="9527790" y="5730601"/>
              <a:ext cx="797477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B1B3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JavaScript</a:t>
              </a:r>
              <a:endParaRPr 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D2329EFF-2D92-4B2E-A280-CD26EF3CE61D}"/>
              </a:ext>
            </a:extLst>
          </p:cNvPr>
          <p:cNvGrpSpPr/>
          <p:nvPr/>
        </p:nvGrpSpPr>
        <p:grpSpPr>
          <a:xfrm>
            <a:off x="10549023" y="5127859"/>
            <a:ext cx="806065" cy="742359"/>
            <a:chOff x="10347709" y="5189410"/>
            <a:chExt cx="806065" cy="742359"/>
          </a:xfrm>
        </p:grpSpPr>
        <p:pic>
          <p:nvPicPr>
            <p:cNvPr id="86" name="그래픽 85">
              <a:extLst>
                <a:ext uri="{FF2B5EF4-FFF2-40B4-BE49-F238E27FC236}">
                  <a16:creationId xmlns:a16="http://schemas.microsoft.com/office/drawing/2014/main" id="{A0A83FB0-0197-41CD-B72F-6A6C0C0BFBC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480741" y="5189410"/>
              <a:ext cx="540000" cy="540000"/>
            </a:xfrm>
            <a:prstGeom prst="rect">
              <a:avLst/>
            </a:prstGeom>
          </p:spPr>
        </p:pic>
        <p:sp>
          <p:nvSpPr>
            <p:cNvPr id="101" name="Text 20">
              <a:extLst>
                <a:ext uri="{FF2B5EF4-FFF2-40B4-BE49-F238E27FC236}">
                  <a16:creationId xmlns:a16="http://schemas.microsoft.com/office/drawing/2014/main" id="{C12B25DE-B3D2-4E33-88B5-9FAD92FE54BD}"/>
                </a:ext>
              </a:extLst>
            </p:cNvPr>
            <p:cNvSpPr/>
            <p:nvPr/>
          </p:nvSpPr>
          <p:spPr>
            <a:xfrm>
              <a:off x="10347709" y="5730601"/>
              <a:ext cx="806065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 err="1">
                  <a:solidFill>
                    <a:srgbClr val="0B1B3A"/>
                  </a:solidFill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TailwindCSS</a:t>
              </a:r>
              <a:endParaRPr lang="en-US" sz="10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endParaRPr>
            </a:p>
          </p:txBody>
        </p:sp>
      </p:grpSp>
      <p:sp>
        <p:nvSpPr>
          <p:cNvPr id="106" name="Text 20">
            <a:extLst>
              <a:ext uri="{FF2B5EF4-FFF2-40B4-BE49-F238E27FC236}">
                <a16:creationId xmlns:a16="http://schemas.microsoft.com/office/drawing/2014/main" id="{2C3F266C-810C-4922-AA13-F0A2BF8A0BA8}"/>
              </a:ext>
            </a:extLst>
          </p:cNvPr>
          <p:cNvSpPr/>
          <p:nvPr/>
        </p:nvSpPr>
        <p:spPr>
          <a:xfrm>
            <a:off x="8461612" y="4400335"/>
            <a:ext cx="2204300" cy="253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B3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2026.04~ </a:t>
            </a:r>
            <a:r>
              <a:rPr lang="en-US" altLang="ko-KR" sz="1300" b="1" dirty="0">
                <a:solidFill>
                  <a:srgbClr val="0B1B3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2026.05</a:t>
            </a:r>
            <a:endParaRPr lang="en-US" sz="1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9484551-722A-4BB1-8707-0F14C6AC4D0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50687" y="567448"/>
            <a:ext cx="720000" cy="72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6DFF"/>
          </a:solidFill>
          <a:ln w="12700">
            <a:solidFill>
              <a:srgbClr val="006D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66928" y="566928"/>
            <a:ext cx="73152" cy="457200"/>
          </a:xfrm>
          <a:prstGeom prst="rect">
            <a:avLst/>
          </a:prstGeom>
          <a:solidFill>
            <a:srgbClr val="006DFF"/>
          </a:solidFill>
          <a:ln w="12700">
            <a:solidFill>
              <a:srgbClr val="006D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49808" y="539496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006D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PROJECT 01</a:t>
            </a:r>
            <a:endParaRPr lang="en-US" sz="93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9808" y="74980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B1B3A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RetinaFit</a:t>
            </a:r>
            <a:endParaRPr lang="en-US" sz="23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68096" y="117957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5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안경점 현장에서 얼굴 분석부터 AR 가상 피팅까지 연결하는 B2B 서비스</a:t>
            </a:r>
            <a:endParaRPr lang="en-US" sz="105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8" name="Shape 9">
            <a:extLst>
              <a:ext uri="{FF2B5EF4-FFF2-40B4-BE49-F238E27FC236}">
                <a16:creationId xmlns:a16="http://schemas.microsoft.com/office/drawing/2014/main" id="{30780964-1436-4C79-AF6F-46154B08B208}"/>
              </a:ext>
            </a:extLst>
          </p:cNvPr>
          <p:cNvSpPr/>
          <p:nvPr/>
        </p:nvSpPr>
        <p:spPr>
          <a:xfrm>
            <a:off x="676656" y="1627631"/>
            <a:ext cx="10872216" cy="4767973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B9D8FF"/>
            </a:solidFill>
            <a:prstDash val="solid"/>
          </a:ln>
          <a:effectLst>
            <a:outerShdw blurRad="12700" dist="50800" dir="2700000" algn="bl" rotWithShape="0">
              <a:srgbClr val="DCE8F7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1">
            <a:extLst>
              <a:ext uri="{FF2B5EF4-FFF2-40B4-BE49-F238E27FC236}">
                <a16:creationId xmlns:a16="http://schemas.microsoft.com/office/drawing/2014/main" id="{69947A1D-A050-467C-95C0-585ABC981A0F}"/>
              </a:ext>
            </a:extLst>
          </p:cNvPr>
          <p:cNvSpPr/>
          <p:nvPr/>
        </p:nvSpPr>
        <p:spPr>
          <a:xfrm>
            <a:off x="792439" y="1627631"/>
            <a:ext cx="29759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6D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MY CONTRIBUTION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11" name="Text 31">
            <a:extLst>
              <a:ext uri="{FF2B5EF4-FFF2-40B4-BE49-F238E27FC236}">
                <a16:creationId xmlns:a16="http://schemas.microsoft.com/office/drawing/2014/main" id="{F1F1D23E-0B94-4033-AA23-06501D47510C}"/>
              </a:ext>
            </a:extLst>
          </p:cNvPr>
          <p:cNvSpPr/>
          <p:nvPr/>
        </p:nvSpPr>
        <p:spPr>
          <a:xfrm>
            <a:off x="6240239" y="1664207"/>
            <a:ext cx="3965271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6D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TROUBLE SHOOTING</a:t>
            </a:r>
            <a:endParaRPr lang="en-US" sz="2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EE32500-0FEB-476F-B364-0BDE7DEE67DC}"/>
              </a:ext>
            </a:extLst>
          </p:cNvPr>
          <p:cNvCxnSpPr>
            <a:cxnSpLocks/>
          </p:cNvCxnSpPr>
          <p:nvPr/>
        </p:nvCxnSpPr>
        <p:spPr>
          <a:xfrm>
            <a:off x="6112764" y="1869853"/>
            <a:ext cx="0" cy="42835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10">
            <a:extLst>
              <a:ext uri="{FF2B5EF4-FFF2-40B4-BE49-F238E27FC236}">
                <a16:creationId xmlns:a16="http://schemas.microsoft.com/office/drawing/2014/main" id="{1092B2DB-182C-4587-9453-A5705FDB502D}"/>
              </a:ext>
            </a:extLst>
          </p:cNvPr>
          <p:cNvSpPr/>
          <p:nvPr/>
        </p:nvSpPr>
        <p:spPr>
          <a:xfrm>
            <a:off x="1433612" y="2350008"/>
            <a:ext cx="4526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ko-KR" altLang="en-US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얼굴 분석 결과 및 추천 화면 구현</a:t>
            </a:r>
            <a:endParaRPr lang="ko-KR" altLang="en-US" b="1" i="0" dirty="0">
              <a:effectLst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4F2BC6BD-6C3F-4DDD-8D05-B520C8C0B060}"/>
              </a:ext>
            </a:extLst>
          </p:cNvPr>
          <p:cNvSpPr/>
          <p:nvPr/>
        </p:nvSpPr>
        <p:spPr>
          <a:xfrm>
            <a:off x="914400" y="2679192"/>
            <a:ext cx="4800600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/>
            <a:r>
              <a:rPr lang="ko-KR" altLang="en-US" sz="12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촬영 결과를 바탕으로 얼굴형</a:t>
            </a:r>
            <a:r>
              <a:rPr lang="en-US" altLang="ko-KR" sz="12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피부</a:t>
            </a:r>
            <a:r>
              <a:rPr lang="en-US" altLang="ko-KR" sz="12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톤</a:t>
            </a:r>
            <a:r>
              <a:rPr lang="en-US" altLang="ko-KR" sz="12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측정값</a:t>
            </a:r>
            <a:r>
              <a:rPr lang="en-US" altLang="ko-KR" sz="12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추천 색상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추천 안경 형태를 보여주는 결과 화면을 구성했습니다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algn="l"/>
            <a:r>
              <a:rPr lang="ko-KR" altLang="en-US" sz="12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분석 결과는 캡처 이미지 업로드와 함께 저장되며</a:t>
            </a:r>
            <a:r>
              <a:rPr lang="en-US" altLang="ko-KR" sz="12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이후 추천 및 피팅 단계로 자연스럽게 이어지도록 플로우를 설계 했습니다</a:t>
            </a:r>
            <a:r>
              <a:rPr lang="en-US" altLang="ko-KR" sz="12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52E3836C-6499-4033-B1E3-D67977313037}"/>
              </a:ext>
            </a:extLst>
          </p:cNvPr>
          <p:cNvSpPr/>
          <p:nvPr/>
        </p:nvSpPr>
        <p:spPr>
          <a:xfrm>
            <a:off x="1437927" y="4217997"/>
            <a:ext cx="4526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en-US" altLang="ko-KR" b="1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AR </a:t>
            </a:r>
            <a:r>
              <a:rPr lang="ko-KR" altLang="en-US" b="1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가상 피팅 및 </a:t>
            </a:r>
            <a:r>
              <a:rPr lang="en-US" altLang="ko-KR" b="1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Flutter </a:t>
            </a:r>
            <a:r>
              <a:rPr lang="ko-KR" altLang="en-US" b="1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브리지 구현</a:t>
            </a:r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3B5A7231-5851-46F1-96B3-719847BF29F4}"/>
              </a:ext>
            </a:extLst>
          </p:cNvPr>
          <p:cNvSpPr/>
          <p:nvPr/>
        </p:nvSpPr>
        <p:spPr>
          <a:xfrm>
            <a:off x="914400" y="4535423"/>
            <a:ext cx="4800600" cy="121223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/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Svelte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웹에서 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Flutter </a:t>
            </a:r>
            <a:r>
              <a:rPr lang="en-US" altLang="ko-KR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Webview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브릿지를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통해 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Native AR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피팅을 실행할 수 있도록 연동했습니다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algn="l"/>
            <a:r>
              <a:rPr lang="ko-KR" altLang="en-US" sz="12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안경 </a:t>
            </a:r>
            <a:r>
              <a:rPr lang="en-US" altLang="ko-KR" sz="12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3D </a:t>
            </a:r>
            <a:r>
              <a:rPr lang="ko-KR" altLang="en-US" sz="1200" b="0" i="0" dirty="0" err="1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에셋</a:t>
            </a:r>
            <a:r>
              <a:rPr lang="ko-KR" altLang="en-US" sz="1200" b="0" i="0" dirty="0">
                <a:effectLst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경로와 원격 모델 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URL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처리하는 </a:t>
            </a:r>
            <a:r>
              <a:rPr lang="ko-KR" altLang="en-US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브릿지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레이어를 구성해 다양한 안경 데이터를 대응할 수 있도록 구현했습니다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  <a:p>
            <a:pPr algn="l"/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Native AR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사용이 어려운 환경에서는 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Three.js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기반 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fallback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화면으로 동일한 흐름을 유지하도록 구성했습니다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en-US" altLang="ko-KR" sz="1200" b="0" i="0" dirty="0">
              <a:effectLst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6DE3785D-64CF-4957-B51B-2F4DD2FF04AD}"/>
              </a:ext>
            </a:extLst>
          </p:cNvPr>
          <p:cNvSpPr/>
          <p:nvPr/>
        </p:nvSpPr>
        <p:spPr>
          <a:xfrm>
            <a:off x="6355080" y="2322576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6B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Problem</a:t>
            </a:r>
            <a:endParaRPr 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738B2844-F169-4F90-808F-3156A52AC43F}"/>
              </a:ext>
            </a:extLst>
          </p:cNvPr>
          <p:cNvSpPr/>
          <p:nvPr/>
        </p:nvSpPr>
        <p:spPr>
          <a:xfrm>
            <a:off x="6406450" y="2587752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AR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피팅에 사용되는 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3D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안경 모델의 파일 용량이 커지면서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피팅 화면 진입 시 초기 로딩 시간이 길어지는 문제가 있었습니다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</a:p>
        </p:txBody>
      </p:sp>
      <p:sp>
        <p:nvSpPr>
          <p:cNvPr id="32" name="Text 18">
            <a:extLst>
              <a:ext uri="{FF2B5EF4-FFF2-40B4-BE49-F238E27FC236}">
                <a16:creationId xmlns:a16="http://schemas.microsoft.com/office/drawing/2014/main" id="{21042006-E1DD-48B7-AC21-78C120C487C7}"/>
              </a:ext>
            </a:extLst>
          </p:cNvPr>
          <p:cNvSpPr/>
          <p:nvPr/>
        </p:nvSpPr>
        <p:spPr>
          <a:xfrm>
            <a:off x="6355080" y="340156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6B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Solution</a:t>
            </a:r>
            <a:endParaRPr 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3" name="Text 19">
            <a:extLst>
              <a:ext uri="{FF2B5EF4-FFF2-40B4-BE49-F238E27FC236}">
                <a16:creationId xmlns:a16="http://schemas.microsoft.com/office/drawing/2014/main" id="{F7653E23-E08F-47ED-83C8-50F66E280E81}"/>
              </a:ext>
            </a:extLst>
          </p:cNvPr>
          <p:cNvSpPr/>
          <p:nvPr/>
        </p:nvSpPr>
        <p:spPr>
          <a:xfrm>
            <a:off x="6406450" y="3666744"/>
            <a:ext cx="4526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GLB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모델에 </a:t>
            </a:r>
            <a:r>
              <a:rPr lang="en-US" altLang="ko-KR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Draco </a:t>
            </a:r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압축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을 적용해 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3D </a:t>
            </a:r>
            <a:r>
              <a:rPr lang="ko-KR" altLang="en-US" sz="1200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에셋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용량을 최적화했습니다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b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불필요한 리소스를 정리하고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웹과 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Native AR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영역에서 동일한 모델 경로를 안정적으로 불러오도록 로딩 흐름을 개선했습니다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4" name="Text 20">
            <a:extLst>
              <a:ext uri="{FF2B5EF4-FFF2-40B4-BE49-F238E27FC236}">
                <a16:creationId xmlns:a16="http://schemas.microsoft.com/office/drawing/2014/main" id="{1072AD7A-0D19-48B1-B7DB-85271908864E}"/>
              </a:ext>
            </a:extLst>
          </p:cNvPr>
          <p:cNvSpPr/>
          <p:nvPr/>
        </p:nvSpPr>
        <p:spPr>
          <a:xfrm>
            <a:off x="6355080" y="466344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6B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Result</a:t>
            </a:r>
            <a:endParaRPr 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31F51EA9-F69B-421F-AC9D-A55CE1D6D51E}"/>
              </a:ext>
            </a:extLst>
          </p:cNvPr>
          <p:cNvSpPr/>
          <p:nvPr/>
        </p:nvSpPr>
        <p:spPr>
          <a:xfrm>
            <a:off x="6406450" y="4892040"/>
            <a:ext cx="44348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Draco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압축 적용 후 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3D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모델 용량을 </a:t>
            </a:r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약 </a:t>
            </a:r>
            <a:r>
              <a:rPr lang="en-US" altLang="ko-KR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60% </a:t>
            </a:r>
            <a:r>
              <a:rPr lang="ko-KR" altLang="en-US" sz="1200" b="1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감소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시켜 초기 로딩 부담을 줄였습니다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b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</a:b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이를 통해 안경 선택 후 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AR </a:t>
            </a:r>
            <a:r>
              <a:rPr lang="ko-KR" altLang="en-US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피팅 화면으로 전환되는 흐름을 더 안정적으로 개선했습니다</a:t>
            </a:r>
            <a:r>
              <a:rPr lang="en-US" altLang="ko-KR" sz="12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.</a:t>
            </a:r>
            <a:endParaRPr lang="en-US" sz="12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6" name="Shape 8">
            <a:extLst>
              <a:ext uri="{FF2B5EF4-FFF2-40B4-BE49-F238E27FC236}">
                <a16:creationId xmlns:a16="http://schemas.microsoft.com/office/drawing/2014/main" id="{9A318560-5A7D-4334-8EC5-D60539114EDD}"/>
              </a:ext>
            </a:extLst>
          </p:cNvPr>
          <p:cNvSpPr/>
          <p:nvPr/>
        </p:nvSpPr>
        <p:spPr>
          <a:xfrm>
            <a:off x="822960" y="4158160"/>
            <a:ext cx="564642" cy="306180"/>
          </a:xfrm>
          <a:prstGeom prst="roundRect">
            <a:avLst>
              <a:gd name="adj" fmla="val 24000"/>
            </a:avLst>
          </a:prstGeom>
          <a:solidFill>
            <a:srgbClr val="EEF6FF"/>
          </a:solidFill>
          <a:ln w="8890">
            <a:solidFill>
              <a:srgbClr val="B4D3FF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b="1" dirty="0">
                <a:solidFill>
                  <a:srgbClr val="006B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02</a:t>
            </a:r>
            <a:endParaRPr lang="ko-KR" altLang="en-US" b="1" dirty="0">
              <a:solidFill>
                <a:srgbClr val="006B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7" name="Shape 8">
            <a:extLst>
              <a:ext uri="{FF2B5EF4-FFF2-40B4-BE49-F238E27FC236}">
                <a16:creationId xmlns:a16="http://schemas.microsoft.com/office/drawing/2014/main" id="{C8F83F8E-4677-49C8-922F-F080E8D55B08}"/>
              </a:ext>
            </a:extLst>
          </p:cNvPr>
          <p:cNvSpPr/>
          <p:nvPr/>
        </p:nvSpPr>
        <p:spPr>
          <a:xfrm>
            <a:off x="822960" y="2304432"/>
            <a:ext cx="564642" cy="306180"/>
          </a:xfrm>
          <a:prstGeom prst="roundRect">
            <a:avLst>
              <a:gd name="adj" fmla="val 24000"/>
            </a:avLst>
          </a:prstGeom>
          <a:solidFill>
            <a:srgbClr val="EEF6FF"/>
          </a:solidFill>
          <a:ln w="8890">
            <a:solidFill>
              <a:srgbClr val="B4D3FF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b="1" dirty="0">
                <a:solidFill>
                  <a:srgbClr val="006BFF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01</a:t>
            </a:r>
            <a:endParaRPr lang="ko-KR" altLang="en-US" b="1" dirty="0">
              <a:solidFill>
                <a:srgbClr val="006BFF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0862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</Words>
  <Application>Microsoft Office PowerPoint</Application>
  <PresentationFormat>와이드스크린</PresentationFormat>
  <Paragraphs>39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Pretendard</vt:lpstr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신건하</dc:creator>
  <cp:lastModifiedBy>신건하</cp:lastModifiedBy>
  <cp:revision>1</cp:revision>
  <dcterms:created xsi:type="dcterms:W3CDTF">2026-06-04T09:56:09Z</dcterms:created>
  <dcterms:modified xsi:type="dcterms:W3CDTF">2026-06-04T09:56:16Z</dcterms:modified>
</cp:coreProperties>
</file>